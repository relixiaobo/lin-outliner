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
<Relationship Id="rId3" Type="http://schemas.openxmlformats.org/officeDocument/2006/relationships/slide" Target="slides/slide2.xml"/>
<Relationship Id="rId4" Type="http://schemas.openxmlformats.org/officeDocument/2006/relationships/slide" Target="slides/slide3.xml"/>
<Relationship Id="rId5" Type="http://schemas.openxmlformats.org/officeDocument/2006/relationships/slide" Target="slides/slide4.xml"/>
<Relationship Id="rId6" Type="http://schemas.openxmlformats.org/officeDocument/2006/relationships/slide" Target="slides/slide5.xml"/>
<Relationship Id="rId7" Type="http://schemas.openxmlformats.org/officeDocument/2006/relationships/slide" Target="slides/slide6.xml"/>
<Relationship Id="rId8" Type="http://schemas.openxmlformats.org/officeDocument/2006/relationships/slide" Target="slides/slide7.xml"/>
<Relationship Id="rId9" Type="http://schemas.openxmlformats.org/officeDocument/2006/relationships/slide" Target="slides/slide8.xml"/>
<Relationship Id="rId10" Type="http://schemas.openxmlformats.org/officeDocument/2006/relationships/slide" Target="slides/slide9.xml"/>
<Relationship Id="rId11" Type="http://schemas.openxmlformats.org/officeDocument/2006/relationships/slide" Target="slides/slide10.xml"/>
<Relationship Id="rId12" Type="http://schemas.openxmlformats.org/officeDocument/2006/relationships/slide" Target="slides/slide11.xml"/>
<Relationship Id="rId13" Type="http://schemas.openxmlformats.org/officeDocument/2006/relationships/slide" Target="slides/slide12.xml"/>
<Relationship Id="rId14" Type="http://schemas.openxmlformats.org/officeDocument/2006/relationships/slide" Target="slides/slide13.xml"/>
<Relationship Id="rId15" Type="http://schemas.openxmlformats.org/officeDocument/2006/relationships/slide" Target="slides/slide14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/>
</file>

<file path=ppt/slides/_rels/slide2.xml.rels><?xml version="1.0" encoding="UTF-8" standalone="yes"?><Relationships xmlns="http://schemas.openxmlformats.org/package/2006/relationships"/>
</file>

<file path=ppt/slides/_rels/slide3.xml.rels><?xml version="1.0" encoding="UTF-8" standalone="yes"?><Relationships xmlns="http://schemas.openxmlformats.org/package/2006/relationships"/>
</file>

<file path=ppt/slides/_rels/slide4.xml.rels><?xml version="1.0" encoding="UTF-8" standalone="yes"?><Relationships xmlns="http://schemas.openxmlformats.org/package/2006/relationships"/>
</file>

<file path=ppt/slides/_rels/slide5.xml.rels><?xml version="1.0" encoding="UTF-8" standalone="yes"?><Relationships xmlns="http://schemas.openxmlformats.org/package/2006/relationships"/>
</file>

<file path=ppt/slides/_rels/slide6.xml.rels><?xml version="1.0" encoding="UTF-8" standalone="yes"?><Relationships xmlns="http://schemas.openxmlformats.org/package/2006/relationships"/>
</file>

<file path=ppt/slides/_rels/slide7.xml.rels><?xml version="1.0" encoding="UTF-8" standalone="yes"?><Relationships xmlns="http://schemas.openxmlformats.org/package/2006/relationships"/>
</file>

<file path=ppt/slides/_rels/slide8.xml.rels><?xml version="1.0" encoding="UTF-8" standalone="yes"?><Relationships xmlns="http://schemas.openxmlformats.org/package/2006/relationships"/>
</file>

<file path=ppt/slides/_rels/slide9.xml.rels><?xml version="1.0" encoding="UTF-8" standalone="yes"?><Relationships xmlns="http://schemas.openxmlformats.org/package/2006/relationships"/>
</file>

<file path=ppt/slides/_rels/slide10.xml.rels><?xml version="1.0" encoding="UTF-8" standalone="yes"?><Relationships xmlns="http://schemas.openxmlformats.org/package/2006/relationships"/>
</file>

<file path=ppt/slides/_rels/slide11.xml.rels><?xml version="1.0" encoding="UTF-8" standalone="yes"?><Relationships xmlns="http://schemas.openxmlformats.org/package/2006/relationships"/>
</file>

<file path=ppt/slides/_rels/slide12.xml.rels><?xml version="1.0" encoding="UTF-8" standalone="yes"?><Relationships xmlns="http://schemas.openxmlformats.org/package/2006/relationships"/>
</file>

<file path=ppt/slides/_rels/slide13.xml.rels><?xml version="1.0" encoding="UTF-8" standalone="yes"?><Relationships xmlns="http://schemas.openxmlformats.org/package/2006/relationships"/>
</file>

<file path=ppt/slides/_rels/slide14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760000" y="1450000"/>
            <a:ext cx="10600000" cy="17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4000" b="1">
                <a:solidFill>
                  <a:srgbClr val="0F172A"/>
                </a:solidFill>
                <a:latin typeface="Arial"/>
                <a:ea typeface="Microsoft YaHei"/>
              </a:rPr>
              <a:t>美国政府限制外国人使用 Fable 5 事件
相关分析与进展</a:t>
            </a:r>
            <a:endParaRPr lang="zh-CN" sz="4000"/>
          </a:p>
        </p:txBody>
      </p:sp>
      <p:sp>
        <p:nvSpPr>
          <p:cNvPr id="5" name="TextBox 5"/>
          <p:cNvSpPr txBox="1"/>
          <p:nvPr/>
        </p:nvSpPr>
        <p:spPr>
          <a:xfrm>
            <a:off x="820000" y="3250000"/>
            <a:ext cx="95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2200">
                <a:solidFill>
                  <a:srgbClr val="475569"/>
                </a:solidFill>
                <a:latin typeface="Arial"/>
                <a:ea typeface="Microsoft YaHei"/>
              </a:rPr>
              <a:t>基于公开信息整理｜截至 2026-06-13</a:t>
            </a:r>
            <a:endParaRPr lang="zh-CN" sz="2200"/>
          </a:p>
        </p:txBody>
      </p:sp>
      <p:sp>
        <p:nvSpPr>
          <p:cNvPr id="6" name="TextBox 6"/>
          <p:cNvSpPr txBox="1"/>
          <p:nvPr/>
        </p:nvSpPr>
        <p:spPr>
          <a:xfrm>
            <a:off x="820000" y="5150000"/>
            <a:ext cx="9800000" cy="6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2200">
                <a:solidFill>
                  <a:srgbClr val="2563EB"/>
                </a:solidFill>
                <a:latin typeface="Arial"/>
                <a:ea typeface="Microsoft YaHei"/>
              </a:rPr>
              <a:t>事件分析｜政策含义｜行业影响｜后续关注</a:t>
            </a:r>
            <a:endParaRPr lang="zh-CN" sz="2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500000"/>
            <a:ext cx="110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3000" b="1">
                <a:solidFill>
                  <a:srgbClr val="0F172A"/>
                </a:solidFill>
                <a:latin typeface="Arial"/>
                <a:ea typeface="Microsoft YaHei"/>
              </a:rPr>
              <a:t>01｜事件一句话概括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50000" y="1450000"/>
            <a:ext cx="105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美国政府以“国家安全权限”为由，要求 Anthropic 暂停外国人访问 Fable 5 与 Mythos 5。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Anthropic 为确保合规，临时关闭了所有客户对两款模型的访问。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该事件标志着美国 AI 管制从“芯片/算力出口”进一步延伸到“模型能力访问”。</a:t>
            </a:r>
            <a:endParaRPr lang="zh-CN" sz="2150"/>
          </a:p>
        </p:txBody>
      </p:sp>
      <p:sp>
        <p:nvSpPr>
          <p:cNvPr id="6" name="TextBox 6"/>
          <p:cNvSpPr txBox="1"/>
          <p:nvPr/>
        </p:nvSpPr>
        <p:spPr>
          <a:xfrm>
            <a:off x="720000" y="632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64748B"/>
                </a:solidFill>
                <a:latin typeface="Arial"/>
                <a:ea typeface="Microsoft YaHei"/>
              </a:rPr>
              <a:t>Source: Anthropic statement; CNBC; 新浪财经/机器之心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11200000" y="63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94A3B8"/>
                </a:solidFill>
                <a:latin typeface="Arial"/>
                <a:ea typeface="Microsoft YaHei"/>
              </a:rPr>
              <a:t>2</a:t>
            </a:r>
            <a:endParaRPr lang="zh-CN" sz="115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500000"/>
            <a:ext cx="110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3000" b="1">
                <a:solidFill>
                  <a:srgbClr val="0F172A"/>
                </a:solidFill>
                <a:latin typeface="Arial"/>
                <a:ea typeface="Microsoft YaHei"/>
              </a:rPr>
              <a:t>02｜关键时间线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50000" y="1450000"/>
            <a:ext cx="105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6 月 9 日：Anthropic 发布 Claude Fable 5 与 Claude Mythos 5。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6 月 12 日 17:21 ET：Anthropic 收到美国政府出口管制指令。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随后：Anthropic 宣布暂停 Fable 5 / Mythos 5 的全部客户访问。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6 月 13 日：多家媒体报道限制范围、潜在原因与 Anthropic 回应。</a:t>
            </a:r>
            <a:endParaRPr lang="zh-CN" sz="2150"/>
          </a:p>
        </p:txBody>
      </p:sp>
      <p:sp>
        <p:nvSpPr>
          <p:cNvPr id="6" name="TextBox 6"/>
          <p:cNvSpPr txBox="1"/>
          <p:nvPr/>
        </p:nvSpPr>
        <p:spPr>
          <a:xfrm>
            <a:off x="720000" y="632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64748B"/>
                </a:solidFill>
                <a:latin typeface="Arial"/>
                <a:ea typeface="Microsoft YaHei"/>
              </a:rPr>
              <a:t>Source: Anthropic launch post; Anthropic access statement; CNBC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11200000" y="63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94A3B8"/>
                </a:solidFill>
                <a:latin typeface="Arial"/>
                <a:ea typeface="Microsoft YaHei"/>
              </a:rPr>
              <a:t>3</a:t>
            </a:r>
            <a:endParaRPr lang="zh-CN" sz="11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500000"/>
            <a:ext cx="110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3000" b="1">
                <a:solidFill>
                  <a:srgbClr val="0F172A"/>
                </a:solidFill>
                <a:latin typeface="Arial"/>
                <a:ea typeface="Microsoft YaHei"/>
              </a:rPr>
              <a:t>03｜禁令范围：不只是海外用户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50000" y="1450000"/>
            <a:ext cx="105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对象：任何 foreign national（外国国民/外籍人士）。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地点：无论在美国境内还是境外。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范围：包括外国政府、企业、个人，以及 Anthropic 内部外籍员工。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实际效果：由于身份合规验证复杂，Anthropic 选择对所有客户先行停用两款模型。</a:t>
            </a:r>
            <a:endParaRPr lang="zh-CN" sz="2150"/>
          </a:p>
        </p:txBody>
      </p:sp>
      <p:sp>
        <p:nvSpPr>
          <p:cNvPr id="6" name="TextBox 6"/>
          <p:cNvSpPr txBox="1"/>
          <p:nvPr/>
        </p:nvSpPr>
        <p:spPr>
          <a:xfrm>
            <a:off x="720000" y="632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64748B"/>
                </a:solidFill>
                <a:latin typeface="Arial"/>
                <a:ea typeface="Microsoft YaHei"/>
              </a:rPr>
              <a:t>Source: Anthropic statement; CNBC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11200000" y="63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94A3B8"/>
                </a:solidFill>
                <a:latin typeface="Arial"/>
                <a:ea typeface="Microsoft YaHei"/>
              </a:rPr>
              <a:t>4</a:t>
            </a:r>
            <a:endParaRPr lang="zh-CN" sz="115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500000"/>
            <a:ext cx="110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3000" b="1">
                <a:solidFill>
                  <a:srgbClr val="0F172A"/>
                </a:solidFill>
                <a:latin typeface="Arial"/>
                <a:ea typeface="Microsoft YaHei"/>
              </a:rPr>
              <a:t>04｜Fable 5 与 Mythos 5 是什么？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50000" y="1450000"/>
            <a:ext cx="105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Fable 5：Anthropic 面向公众开放的高能力“类 Mythos”模型，强调软件工程、知识工作、视觉、科研等能力。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Mythos 5：面向小范围网络防御者与基础设施提供者的更高权限版本，在部分领域解除更多安全限制。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核心敏感点：网络安全、生物科研、长程自主任务等高影响能力。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Anthropic 原本通过安全分类器、红队测试、监控和数据保留策略进行“纵深防御”。</a:t>
            </a:r>
            <a:endParaRPr lang="zh-CN" sz="2150"/>
          </a:p>
        </p:txBody>
      </p:sp>
      <p:sp>
        <p:nvSpPr>
          <p:cNvPr id="6" name="TextBox 6"/>
          <p:cNvSpPr txBox="1"/>
          <p:nvPr/>
        </p:nvSpPr>
        <p:spPr>
          <a:xfrm>
            <a:off x="720000" y="632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64748B"/>
                </a:solidFill>
                <a:latin typeface="Arial"/>
                <a:ea typeface="Microsoft YaHei"/>
              </a:rPr>
              <a:t>Source: Anthropic launch post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11200000" y="63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94A3B8"/>
                </a:solidFill>
                <a:latin typeface="Arial"/>
                <a:ea typeface="Microsoft YaHei"/>
              </a:rPr>
              <a:t>5</a:t>
            </a:r>
            <a:endParaRPr lang="zh-CN" sz="11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500000"/>
            <a:ext cx="110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3000" b="1">
                <a:solidFill>
                  <a:srgbClr val="0F172A"/>
                </a:solidFill>
                <a:latin typeface="Arial"/>
                <a:ea typeface="Microsoft YaHei"/>
              </a:rPr>
              <a:t>05｜美国政府的主要理由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50000" y="1450000"/>
            <a:ext cx="105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官方指令引用“国家安全权限”，但未提供充分公开细节。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据报道，政府担忧存在绕过 Fable 5 防护机制的 jailbreak 方法。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更深层逻辑：前沿 AI 可能提升网络攻击、生物风险、科研与情报能力，属于双用途技术。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政策信号：美国可能把最前沿 AI 模型视作类似高端芯片、敏感软件的战略资产。</a:t>
            </a:r>
            <a:endParaRPr lang="zh-CN" sz="2150"/>
          </a:p>
        </p:txBody>
      </p:sp>
      <p:sp>
        <p:nvSpPr>
          <p:cNvPr id="6" name="TextBox 6"/>
          <p:cNvSpPr txBox="1"/>
          <p:nvPr/>
        </p:nvSpPr>
        <p:spPr>
          <a:xfrm>
            <a:off x="720000" y="632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64748B"/>
                </a:solidFill>
                <a:latin typeface="Arial"/>
                <a:ea typeface="Microsoft YaHei"/>
              </a:rPr>
              <a:t>Source: Anthropic statement; Axios via 新浪财经/机器之心; CNBC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11200000" y="63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94A3B8"/>
                </a:solidFill>
                <a:latin typeface="Arial"/>
                <a:ea typeface="Microsoft YaHei"/>
              </a:rPr>
              <a:t>6</a:t>
            </a:r>
            <a:endParaRPr lang="zh-CN" sz="115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500000"/>
            <a:ext cx="110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3000" b="1">
                <a:solidFill>
                  <a:srgbClr val="0F172A"/>
                </a:solidFill>
                <a:latin typeface="Arial"/>
                <a:ea typeface="Microsoft YaHei"/>
              </a:rPr>
              <a:t>06｜Anthropic 的回应与分歧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50000" y="1450000"/>
            <a:ext cx="105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Anthropic 表示会遵守法律指令，并移除所有用户访问。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但公司反对：仅因一个“范围有限、非通用”的潜在 jailbreak 就召回商业模型。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Anthropic 称已进行数千小时红队测试，尚未发现 universal jailbreak。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公司主张政府应有阻止不安全部署的权力，但流程应透明、公平、清晰，并基于技术事实。</a:t>
            </a:r>
            <a:endParaRPr lang="zh-CN" sz="2150"/>
          </a:p>
        </p:txBody>
      </p:sp>
      <p:sp>
        <p:nvSpPr>
          <p:cNvPr id="6" name="TextBox 6"/>
          <p:cNvSpPr txBox="1"/>
          <p:nvPr/>
        </p:nvSpPr>
        <p:spPr>
          <a:xfrm>
            <a:off x="720000" y="632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64748B"/>
                </a:solidFill>
                <a:latin typeface="Arial"/>
                <a:ea typeface="Microsoft YaHei"/>
              </a:rPr>
              <a:t>Source: Anthropic statement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11200000" y="63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94A3B8"/>
                </a:solidFill>
                <a:latin typeface="Arial"/>
                <a:ea typeface="Microsoft YaHei"/>
              </a:rPr>
              <a:t>7</a:t>
            </a:r>
            <a:endParaRPr lang="zh-CN" sz="115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500000"/>
            <a:ext cx="110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3000" b="1">
                <a:solidFill>
                  <a:srgbClr val="0F172A"/>
                </a:solidFill>
                <a:latin typeface="Arial"/>
                <a:ea typeface="Microsoft YaHei"/>
              </a:rPr>
              <a:t>07｜直接影响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50000" y="1450000"/>
            <a:ext cx="105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用户侧：Fable 5 / Mythos 5 突然不可用，业务连续性受影响。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企业侧：依赖模型能力的研发、代码迁移、网络防御、科研流程可能被迫切换模型。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Anthropic 侧：收入、客户信任、IPO 预期与政府关系承压。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员工侧：外籍员工能否参与相关模型研发和测试成为合规难题。</a:t>
            </a:r>
            <a:endParaRPr lang="zh-CN" sz="2150"/>
          </a:p>
        </p:txBody>
      </p:sp>
      <p:sp>
        <p:nvSpPr>
          <p:cNvPr id="6" name="TextBox 6"/>
          <p:cNvSpPr txBox="1"/>
          <p:nvPr/>
        </p:nvSpPr>
        <p:spPr>
          <a:xfrm>
            <a:off x="720000" y="632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64748B"/>
                </a:solidFill>
                <a:latin typeface="Arial"/>
                <a:ea typeface="Microsoft YaHei"/>
              </a:rPr>
              <a:t>Source: CNBC; 鉅亨网; Anthropic statement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11200000" y="63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94A3B8"/>
                </a:solidFill>
                <a:latin typeface="Arial"/>
                <a:ea typeface="Microsoft YaHei"/>
              </a:rPr>
              <a:t>8</a:t>
            </a:r>
            <a:endParaRPr lang="zh-CN" sz="115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500000"/>
            <a:ext cx="110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3000" b="1">
                <a:solidFill>
                  <a:srgbClr val="0F172A"/>
                </a:solidFill>
                <a:latin typeface="Arial"/>
                <a:ea typeface="Microsoft YaHei"/>
              </a:rPr>
              <a:t>08｜政策含义：AI 出口管制进入新阶段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50000" y="1450000"/>
            <a:ext cx="105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过去重点：限制高端 GPU、算力、半导体设备、云算力等“基础设施”。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现在扩展：直接限制“模型访问权”和“模型能力输出”。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监管对象从硬件供应链转向模型、API、人员身份、跨境服务。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这可能成为未来前沿模型发布前审查、许可、分级访问制度的前奏。</a:t>
            </a:r>
            <a:endParaRPr lang="zh-CN" sz="2150"/>
          </a:p>
        </p:txBody>
      </p:sp>
      <p:sp>
        <p:nvSpPr>
          <p:cNvPr id="6" name="TextBox 6"/>
          <p:cNvSpPr txBox="1"/>
          <p:nvPr/>
        </p:nvSpPr>
        <p:spPr>
          <a:xfrm>
            <a:off x="720000" y="632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64748B"/>
                </a:solidFill>
                <a:latin typeface="Arial"/>
                <a:ea typeface="Microsoft YaHei"/>
              </a:rPr>
              <a:t>Analysis based on public reporting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11200000" y="63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94A3B8"/>
                </a:solidFill>
                <a:latin typeface="Arial"/>
                <a:ea typeface="Microsoft YaHei"/>
              </a:rPr>
              <a:t>9</a:t>
            </a:r>
            <a:endParaRPr lang="zh-CN" sz="11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500000"/>
            <a:ext cx="110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3000" b="1">
                <a:solidFill>
                  <a:srgbClr val="0F172A"/>
                </a:solidFill>
                <a:latin typeface="Arial"/>
                <a:ea typeface="Microsoft YaHei"/>
              </a:rPr>
              <a:t>09｜行业影响：三类公司将受冲击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50000" y="1450000"/>
            <a:ext cx="105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模型公司：需要更强身份验证、地理围栏、模型分级、访问审计与政府沟通机制。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下游企业：要准备多模型备份，避免核心流程绑定单一前沿模型。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云与平台方：可能承担 KYC、出口合规、日志留存、异常使用监控等新责任。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开源/闭源争论升温：越强的闭源模型越可能被纳入国家安全框架。</a:t>
            </a:r>
            <a:endParaRPr lang="zh-CN" sz="2150"/>
          </a:p>
        </p:txBody>
      </p:sp>
      <p:sp>
        <p:nvSpPr>
          <p:cNvPr id="6" name="TextBox 6"/>
          <p:cNvSpPr txBox="1"/>
          <p:nvPr/>
        </p:nvSpPr>
        <p:spPr>
          <a:xfrm>
            <a:off x="720000" y="632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64748B"/>
                </a:solidFill>
                <a:latin typeface="Arial"/>
                <a:ea typeface="Microsoft YaHei"/>
              </a:rPr>
              <a:t>Analysis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11200000" y="63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94A3B8"/>
                </a:solidFill>
                <a:latin typeface="Arial"/>
                <a:ea typeface="Microsoft YaHei"/>
              </a:rPr>
              <a:t>10</a:t>
            </a:r>
            <a:endParaRPr lang="zh-CN" sz="11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500000"/>
            <a:ext cx="110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3000" b="1">
                <a:solidFill>
                  <a:srgbClr val="0F172A"/>
                </a:solidFill>
                <a:latin typeface="Arial"/>
                <a:ea typeface="Microsoft YaHei"/>
              </a:rPr>
              <a:t>10｜主要争议点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50000" y="1450000"/>
            <a:ext cx="105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安全必要性：前沿模型能力是否已经达到必须强制管制的门槛？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证据充分性：一个非通用 jailbreak 是否足以触发全量停用？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程序正义：企业是否获得透明、可复核、基于技术事实的监管流程？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国际影响：美国用户与外国用户差别化访问，可能加剧 AI 能力地缘分化。</a:t>
            </a:r>
            <a:endParaRPr lang="zh-CN" sz="2150"/>
          </a:p>
        </p:txBody>
      </p:sp>
      <p:sp>
        <p:nvSpPr>
          <p:cNvPr id="6" name="TextBox 6"/>
          <p:cNvSpPr txBox="1"/>
          <p:nvPr/>
        </p:nvSpPr>
        <p:spPr>
          <a:xfrm>
            <a:off x="720000" y="632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64748B"/>
                </a:solidFill>
                <a:latin typeface="Arial"/>
                <a:ea typeface="Microsoft YaHei"/>
              </a:rPr>
              <a:t>Analysis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11200000" y="63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94A3B8"/>
                </a:solidFill>
                <a:latin typeface="Arial"/>
                <a:ea typeface="Microsoft YaHei"/>
              </a:rPr>
              <a:t>11</a:t>
            </a:r>
            <a:endParaRPr lang="zh-CN" sz="115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500000"/>
            <a:ext cx="110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3000" b="1">
                <a:solidFill>
                  <a:srgbClr val="0F172A"/>
                </a:solidFill>
                <a:latin typeface="Arial"/>
                <a:ea typeface="Microsoft YaHei"/>
              </a:rPr>
              <a:t>11｜后续进展需要关注什么？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50000" y="1450000"/>
            <a:ext cx="105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Font typeface="Arial"/>
              <a:buChar char="•"/>
            </a:pPr>
            <a:r>
              <a:rPr lang="zh-CN" sz="1950">
                <a:solidFill>
                  <a:srgbClr val="1F2937"/>
                </a:solidFill>
                <a:latin typeface="Arial"/>
                <a:ea typeface="Microsoft YaHei"/>
              </a:rPr>
              <a:t>美国政府是否公布更具体的安全证据或许可标准。</a:t>
            </a:r>
            <a:endParaRPr lang="zh-CN" sz="1950"/>
          </a:p>
          <a:p>
            <a:pPr marL="0" indent="0">
              <a:buFont typeface="Arial"/>
              <a:buChar char="•"/>
            </a:pPr>
            <a:r>
              <a:rPr lang="zh-CN" sz="1950">
                <a:solidFill>
                  <a:srgbClr val="1F2937"/>
                </a:solidFill>
                <a:latin typeface="Arial"/>
                <a:ea typeface="Microsoft YaHei"/>
              </a:rPr>
              <a:t>Anthropic 是否在 24–48 小时内披露更多技术细节并恢复部分访问。</a:t>
            </a:r>
            <a:endParaRPr lang="zh-CN" sz="1950"/>
          </a:p>
          <a:p>
            <a:pPr marL="0" indent="0">
              <a:buFont typeface="Arial"/>
              <a:buChar char="•"/>
            </a:pPr>
            <a:r>
              <a:rPr lang="zh-CN" sz="1950">
                <a:solidFill>
                  <a:srgbClr val="1F2937"/>
                </a:solidFill>
                <a:latin typeface="Arial"/>
                <a:ea typeface="Microsoft YaHei"/>
              </a:rPr>
              <a:t>是否出现“美国人可用、外国人不可用”的身份分层访问方案。</a:t>
            </a:r>
            <a:endParaRPr lang="zh-CN" sz="1950"/>
          </a:p>
          <a:p>
            <a:pPr marL="0" indent="0">
              <a:buFont typeface="Arial"/>
              <a:buChar char="•"/>
            </a:pPr>
            <a:r>
              <a:rPr lang="zh-CN" sz="1950">
                <a:solidFill>
                  <a:srgbClr val="1F2937"/>
                </a:solidFill>
                <a:latin typeface="Arial"/>
                <a:ea typeface="Microsoft YaHei"/>
              </a:rPr>
              <a:t>其他模型公司是否受到类似指令，形成行业性前沿模型许可制度。</a:t>
            </a:r>
            <a:endParaRPr lang="zh-CN" sz="1950"/>
          </a:p>
          <a:p>
            <a:pPr marL="0" indent="0">
              <a:buFont typeface="Arial"/>
              <a:buChar char="•"/>
            </a:pPr>
            <a:r>
              <a:rPr lang="zh-CN" sz="1950">
                <a:solidFill>
                  <a:srgbClr val="1F2937"/>
                </a:solidFill>
                <a:latin typeface="Arial"/>
                <a:ea typeface="Microsoft YaHei"/>
              </a:rPr>
              <a:t>海外监管机构是否采取对等或替代性政策。</a:t>
            </a:r>
            <a:endParaRPr lang="zh-CN" sz="1950"/>
          </a:p>
        </p:txBody>
      </p:sp>
      <p:sp>
        <p:nvSpPr>
          <p:cNvPr id="6" name="TextBox 6"/>
          <p:cNvSpPr txBox="1"/>
          <p:nvPr/>
        </p:nvSpPr>
        <p:spPr>
          <a:xfrm>
            <a:off x="720000" y="632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64748B"/>
                </a:solidFill>
                <a:latin typeface="Arial"/>
                <a:ea typeface="Microsoft YaHei"/>
              </a:rPr>
              <a:t>Analysis based on current status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11200000" y="63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94A3B8"/>
                </a:solidFill>
                <a:latin typeface="Arial"/>
                <a:ea typeface="Microsoft YaHei"/>
              </a:rPr>
              <a:t>12</a:t>
            </a:r>
            <a:endParaRPr lang="zh-CN" sz="115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500000"/>
            <a:ext cx="110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3000" b="1">
                <a:solidFill>
                  <a:srgbClr val="0F172A"/>
                </a:solidFill>
                <a:latin typeface="Arial"/>
                <a:ea typeface="Microsoft YaHei"/>
              </a:rPr>
              <a:t>12｜结论与建议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50000" y="1450000"/>
            <a:ext cx="105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短期：这是一次突发合规事件，核心影响是访问中断与客户迁移风险。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中期：AI 企业需把出口管制、身份合规、安全评估纳入产品发布流程。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长期：前沿模型可能成为“国家安全资产”，全球 AI 服务会更分层、更区域化。</a:t>
            </a:r>
            <a:endParaRPr lang="zh-CN" sz="2150"/>
          </a:p>
          <a:p>
            <a:pPr marL="0" indent="0">
              <a:buFont typeface="Arial"/>
              <a:buChar char="•"/>
            </a:pPr>
            <a:r>
              <a:rPr lang="zh-CN" sz="2150">
                <a:solidFill>
                  <a:srgbClr val="1F2937"/>
                </a:solidFill>
                <a:latin typeface="Arial"/>
                <a:ea typeface="Microsoft YaHei"/>
              </a:rPr>
              <a:t>对企业用户：建立模型替代方案、合规审查机制和关键业务降级预案。</a:t>
            </a:r>
            <a:endParaRPr lang="zh-CN" sz="2150"/>
          </a:p>
        </p:txBody>
      </p:sp>
      <p:sp>
        <p:nvSpPr>
          <p:cNvPr id="6" name="TextBox 6"/>
          <p:cNvSpPr txBox="1"/>
          <p:nvPr/>
        </p:nvSpPr>
        <p:spPr>
          <a:xfrm>
            <a:off x="720000" y="632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64748B"/>
                </a:solidFill>
                <a:latin typeface="Arial"/>
                <a:ea typeface="Microsoft YaHei"/>
              </a:rPr>
              <a:t>Prepared by Tenon Agent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11200000" y="63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94A3B8"/>
                </a:solidFill>
                <a:latin typeface="Arial"/>
                <a:ea typeface="Microsoft YaHei"/>
              </a:rPr>
              <a:t>13</a:t>
            </a:r>
            <a:endParaRPr lang="zh-CN" sz="115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opBar"/>
          <p:cNvSpPr/>
          <p:nvPr/>
        </p:nvSpPr>
        <p:spPr>
          <a:xfrm>
            <a:off x="0" y="0"/>
            <a:ext cx="12192000" cy="22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620000" y="500000"/>
            <a:ext cx="11000000" cy="7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3000" b="1">
                <a:solidFill>
                  <a:srgbClr val="0F172A"/>
                </a:solidFill>
                <a:latin typeface="Arial"/>
                <a:ea typeface="Microsoft YaHei"/>
              </a:rPr>
              <a:t>参考资料</a:t>
            </a:r>
            <a:endParaRPr lang="zh-CN" sz="3000"/>
          </a:p>
        </p:txBody>
      </p:sp>
      <p:sp>
        <p:nvSpPr>
          <p:cNvPr id="5" name="TextBox 5"/>
          <p:cNvSpPr txBox="1"/>
          <p:nvPr/>
        </p:nvSpPr>
        <p:spPr>
          <a:xfrm>
            <a:off x="850000" y="1450000"/>
            <a:ext cx="10500000" cy="430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0" indent="0">
              <a:buFont typeface="Arial"/>
              <a:buChar char="•"/>
            </a:pPr>
            <a:r>
              <a:rPr lang="zh-CN" sz="1950">
                <a:solidFill>
                  <a:srgbClr val="1F2937"/>
                </a:solidFill>
                <a:latin typeface="Arial"/>
                <a:ea typeface="Microsoft YaHei"/>
              </a:rPr>
              <a:t>Anthropic: Statement on the US government directive to suspend access to Fable 5 and Mythos 5</a:t>
            </a:r>
            <a:endParaRPr lang="zh-CN" sz="1950"/>
          </a:p>
          <a:p>
            <a:pPr marL="0" indent="0">
              <a:buFont typeface="Arial"/>
              <a:buChar char="•"/>
            </a:pPr>
            <a:r>
              <a:rPr lang="zh-CN" sz="1950">
                <a:solidFill>
                  <a:srgbClr val="1F2937"/>
                </a:solidFill>
                <a:latin typeface="Arial"/>
                <a:ea typeface="Microsoft YaHei"/>
              </a:rPr>
              <a:t>Anthropic: Claude Fable 5 and Claude Mythos 5 launch post</a:t>
            </a:r>
            <a:endParaRPr lang="zh-CN" sz="1950"/>
          </a:p>
          <a:p>
            <a:pPr marL="0" indent="0">
              <a:buFont typeface="Arial"/>
              <a:buChar char="•"/>
            </a:pPr>
            <a:r>
              <a:rPr lang="zh-CN" sz="1950">
                <a:solidFill>
                  <a:srgbClr val="1F2937"/>
                </a:solidFill>
                <a:latin typeface="Arial"/>
                <a:ea typeface="Microsoft YaHei"/>
              </a:rPr>
              <a:t>CNBC: Anthropic disables access to Fable 5 and Mythos 5 to comply with government directive</a:t>
            </a:r>
            <a:endParaRPr lang="zh-CN" sz="1950"/>
          </a:p>
          <a:p>
            <a:pPr marL="0" indent="0">
              <a:buFont typeface="Arial"/>
              <a:buChar char="•"/>
            </a:pPr>
            <a:r>
              <a:rPr lang="zh-CN" sz="1950">
                <a:solidFill>
                  <a:srgbClr val="1F2937"/>
                </a:solidFill>
                <a:latin typeface="Arial"/>
                <a:ea typeface="Microsoft YaHei"/>
              </a:rPr>
              <a:t>新浪财经/机器之心：突发！美国政府禁止外国人使用 Claude Fable 5</a:t>
            </a:r>
            <a:endParaRPr lang="zh-CN" sz="1950"/>
          </a:p>
          <a:p>
            <a:pPr marL="0" indent="0">
              <a:buFont typeface="Arial"/>
              <a:buChar char="•"/>
            </a:pPr>
            <a:r>
              <a:rPr lang="zh-CN" sz="1950">
                <a:solidFill>
                  <a:srgbClr val="1F2937"/>
                </a:solidFill>
                <a:latin typeface="Arial"/>
                <a:ea typeface="Microsoft YaHei"/>
              </a:rPr>
              <a:t>鉅亨网：川普政府祭史上最严 AI 出口管制，禁外国人使用 Anthropic 最先进模型</a:t>
            </a:r>
            <a:endParaRPr lang="zh-CN" sz="1950"/>
          </a:p>
        </p:txBody>
      </p:sp>
      <p:sp>
        <p:nvSpPr>
          <p:cNvPr id="6" name="TextBox 6"/>
          <p:cNvSpPr txBox="1"/>
          <p:nvPr/>
        </p:nvSpPr>
        <p:spPr>
          <a:xfrm>
            <a:off x="720000" y="6320000"/>
            <a:ext cx="100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64748B"/>
                </a:solidFill>
                <a:latin typeface="Arial"/>
                <a:ea typeface="Microsoft YaHei"/>
              </a:rPr>
              <a:t>Links also provided in final message</a:t>
            </a:r>
            <a:endParaRPr lang="zh-CN" sz="1150"/>
          </a:p>
        </p:txBody>
      </p:sp>
      <p:sp>
        <p:nvSpPr>
          <p:cNvPr id="7" name="TextBox 7"/>
          <p:cNvSpPr txBox="1"/>
          <p:nvPr/>
        </p:nvSpPr>
        <p:spPr>
          <a:xfrm>
            <a:off x="11200000" y="6320000"/>
            <a:ext cx="600000" cy="26000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/>
            <a:r>
              <a:rPr lang="zh-CN" sz="1150">
                <a:solidFill>
                  <a:srgbClr val="94A3B8"/>
                </a:solidFill>
                <a:latin typeface="Arial"/>
                <a:ea typeface="Microsoft YaHei"/>
              </a:rPr>
              <a:t>14</a:t>
            </a:r>
            <a:endParaRPr lang="zh-CN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non Blue">
  <a:themeElements>
    <a:clrScheme name="Tenon">
      <a:dk1>
        <a:srgbClr val="0F172A"/>
      </a:dk1>
      <a:lt1>
        <a:srgbClr val="F8FAFC"/>
      </a:lt1>
      <a:dk2>
        <a:srgbClr val="1F2937"/>
      </a:dk2>
      <a:lt2>
        <a:srgbClr val="E2E8F0"/>
      </a:lt2>
      <a:accent1>
        <a:srgbClr val="2563EB"/>
      </a:accent1>
      <a:accent2>
        <a:srgbClr val="0EA5E9"/>
      </a:accent2>
      <a:accent3>
        <a:srgbClr val="22C55E"/>
      </a:accent3>
      <a:accent4>
        <a:srgbClr val="F97316"/>
      </a:accent4>
      <a:accent5>
        <a:srgbClr val="8B5CF6"/>
      </a:accent5>
      <a:accent6>
        <a:srgbClr val="EF4444"/>
      </a:accent6>
      <a:hlink>
        <a:srgbClr val="2563EB"/>
      </a:hlink>
      <a:folHlink>
        <a:srgbClr val="7C3AED"/>
      </a:folHlink>
    </a:clrScheme>
    <a:fontScheme name="Office">
      <a:majorFont>
        <a:latin typeface="Arial"/>
        <a:ea typeface="Microsoft YaHei"/>
      </a:majorFont>
      <a:minorFont>
        <a:latin typeface="Arial"/>
        <a:ea typeface="Microsoft YaHei"/>
      </a:minorFont>
    </a:fontScheme>
    <a:fmtScheme name="Office">
      <a:fillStyleLst>
        <a:solidFill>
          <a:schemeClr val="phClr"/>
        </a:solidFill>
      </a:fillStyleLst>
      <a:lnStyleLst>
        <a:ln w="6350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Tenon Agent</Application>
  <PresentationFormat>On-screen Show (16:9)</PresentationFormat>
  <Slides>14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美国政府限制外国人使用 Fable 5 事件分析</dc:title>
  <dc:creator>Tenon Agent</dc:creator>
  <cp:lastModifiedBy>Tenon Agent</cp:lastModifiedBy>
  <dcterms:created xsi:type="dcterms:W3CDTF">2026-06-13T02:00:00Z</dcterms:created>
  <dcterms:modified xsi:type="dcterms:W3CDTF">2026-06-13T02:00:00Z</dcterms:modified>
</cp:coreProperties>
</file>